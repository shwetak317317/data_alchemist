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58C2A-80B4-4DDE-BAA9-EF5347C55AD0}" v="132" dt="2026-06-26T09:11:11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4" y="-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D671E-759E-4722-A6F4-E585EA79F7A5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64B6D-7197-474E-933B-A7FA69B36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67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64B6D-7197-474E-933B-A7FA69B36B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1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8686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A020"/>
                </a:solidFill>
                <a:latin typeface="Calibri"/>
              </a:rPr>
              <a:t>SCALEX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87451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PURSUIT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788920"/>
            <a:ext cx="5029200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28803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C842"/>
                </a:solidFill>
                <a:latin typeface="Calibri"/>
              </a:rPr>
              <a:t>Solve Problems  ·  Deliver Value  ·  Pursue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337560"/>
            <a:ext cx="5029200" cy="1508760"/>
          </a:xfrm>
          <a:prstGeom prst="rect">
            <a:avLst/>
          </a:prstGeom>
          <a:solidFill>
            <a:srgbClr val="0F1E45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3337560"/>
            <a:ext cx="5029200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34015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A4CC"/>
                </a:solidFill>
                <a:latin typeface="Calibri"/>
              </a:rPr>
              <a:t>TEAM  </a:t>
            </a:r>
            <a:r>
              <a:rPr sz="1600" b="1" i="0">
                <a:solidFill>
                  <a:srgbClr val="F5C842"/>
                </a:solidFill>
                <a:latin typeface="Calibri"/>
              </a:rPr>
              <a:t>Celestials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4CC"/>
                </a:solidFill>
                <a:latin typeface="Calibri"/>
              </a:rPr>
              <a:t>Use Case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Pipeline Pulse — AI-Powered ETL Reliability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148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A4CC"/>
                </a:solidFill>
                <a:latin typeface="Calibri"/>
              </a:rPr>
              <a:t>Shankar  ·  Anoop  ·  Ankit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70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C8C8"/>
                </a:solidFill>
                <a:latin typeface="Calibri"/>
              </a:rPr>
              <a:t>Presales Enablement  |  SCALEX Pursuit 2026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Team Overview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THE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16152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11795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Shankar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Team Lead · AI Architect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737360"/>
            <a:ext cx="3840480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574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130552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20939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317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Backend · Agentic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51760"/>
            <a:ext cx="3840480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475488" cy="47548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3044952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3008376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Ankit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461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Frontend · Dashboard &amp;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840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C8C8"/>
                </a:solidFill>
                <a:latin typeface="Calibri"/>
              </a:rPr>
              <a:t>Theme: Presales Enablement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09651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8CA4CC"/>
                </a:solidFill>
                <a:latin typeface="Calibri"/>
              </a:rPr>
              <a:t>SCALEX@pal.tech</a:t>
            </a:r>
            <a:r>
              <a:rPr sz="900" b="0" i="0" dirty="0">
                <a:solidFill>
                  <a:srgbClr val="8CA4CC"/>
                </a:solidFill>
                <a:latin typeface="Calibri"/>
              </a:rPr>
              <a:t>  ·  Submission: 29 June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THE PROBLEM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60704"/>
            <a:ext cx="43434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170432"/>
            <a:ext cx="4069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ETL pipelines fail silently. Engineers waste 4+ hours per incident manually hunting logs — and 60% of failures are the same recurring patterns.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01168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09160" y="201168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206654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Schema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226771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Column changes break downstream jobs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60604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09160" y="260604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92040" y="266090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exhaustion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8620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OOM/timeout with no warning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320040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320040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325526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Silent failures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45643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No proactive alerting at step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794760"/>
            <a:ext cx="4069080" cy="512064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09160" y="3794760"/>
            <a:ext cx="54864" cy="5120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384962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Manual MTTR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0507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~4 hrs avg; 20 hrs/week per data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Proposed Solution — Pipeline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315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C842"/>
                </a:solidFill>
                <a:latin typeface="Calibri"/>
              </a:rPr>
              <a:t>"An AI agent that watches every ETL job, diagnoses failures in plain English, and auto-fixes the routine 60%."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81328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Step-Level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Real-time tracking across Spark, Databricks &amp; SQL — not just job-level pass/fail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4872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04872" y="1325880"/>
            <a:ext cx="2029968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1" y="1481328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96312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Claude Diagnosis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Root cause classified in &lt;2s across 5 categories: schema, OOM, code, orchestration, data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1144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81144" y="1325880"/>
            <a:ext cx="2029968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664" y="1481328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72583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Auto-Remediation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Whitelisted patterns auto-fixed (retries, schema mismatches, timeouts) with full 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7416" y="1325880"/>
            <a:ext cx="2029968" cy="35204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757416" y="1325880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481328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48855" y="2103120"/>
            <a:ext cx="18470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Unified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855" y="2578608"/>
            <a:ext cx="18470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Live job health heatmap · MTTR trend · SLA tracker · one-click fix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681728"/>
            <a:ext cx="8686800" cy="3200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470916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IN SCOPE: </a:t>
            </a:r>
            <a:r>
              <a:rPr sz="900" b="0" i="0">
                <a:solidFill>
                  <a:srgbClr val="FFFFFF"/>
                </a:solidFill>
                <a:latin typeface="Calibri"/>
              </a:rPr>
              <a:t>Spark 3.x · Databricks · SQL · 5 auto-fix patterns · React dashboard · Audit log     </a:t>
            </a:r>
            <a:r>
              <a:rPr sz="900" b="1" i="0">
                <a:solidFill>
                  <a:srgbClr val="E8A020"/>
                </a:solidFill>
                <a:latin typeface="Calibri"/>
              </a:rPr>
              <a:t>ROADMAP: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Kafka streams · dbt · Anomaly ML · Client-tunable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804672"/>
            <a:ext cx="160020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932688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74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Client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Spark · Databricks
SQL Server / PG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8308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92024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20240" y="804672"/>
            <a:ext cx="160020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932688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7510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Connector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510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REST APIs
Polling +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804672"/>
            <a:ext cx="1600200" cy="4572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932688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712463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Claude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Diagnosis · Fix
&lt;2s latency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9496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94960" y="804672"/>
            <a:ext cx="160020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932688"/>
            <a:ext cx="502920" cy="502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49824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Remediation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9824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Whitelist exec
Human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1664208"/>
            <a:ext cx="32004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0" y="804672"/>
            <a:ext cx="1600200" cy="19202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132320" y="804672"/>
            <a:ext cx="160020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1" y="932688"/>
            <a:ext cx="50292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187183" y="1508760"/>
            <a:ext cx="1490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3" y="1920240"/>
            <a:ext cx="1490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CA4CC"/>
                </a:solidFill>
                <a:latin typeface="Calibri"/>
              </a:rPr>
              <a:t>React + Tailwind
WebSocket 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852928"/>
            <a:ext cx="3291840" cy="80467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29077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Event &amp; Metadata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163824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Postgres (run history)  ·  Redis (live state)  ·  Structured JSON audit trail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2852928"/>
            <a:ext cx="5303520" cy="80467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03320" y="2907792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AI Layer  </a:t>
            </a:r>
            <a:r>
              <a:rPr sz="900" b="0" i="0">
                <a:solidFill>
                  <a:srgbClr val="FFFFFF"/>
                </a:solidFill>
                <a:latin typeface="Calibri"/>
              </a:rPr>
              <a:t>Model: Claude Sonnet 4.6  ·  Pattern: Tool-use agent  ·  </a:t>
            </a:r>
            <a:r>
              <a:rPr sz="900" b="1" i="0">
                <a:solidFill>
                  <a:srgbClr val="2ECC71"/>
                </a:solidFill>
                <a:latin typeface="Calibri"/>
              </a:rPr>
              <a:t>~$0.20 / incident 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·  20+ YAML prompt templates  ·  Human-in-loop for non-whitelisted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 dirty="0">
                <a:solidFill>
                  <a:srgbClr val="F5C842"/>
                </a:solidFill>
                <a:latin typeface="Calibri"/>
              </a:rPr>
              <a:t>Python </a:t>
            </a:r>
            <a:r>
              <a:rPr sz="800" b="0" i="0" dirty="0" err="1">
                <a:solidFill>
                  <a:srgbClr val="F5C842"/>
                </a:solidFill>
                <a:latin typeface="Calibri"/>
              </a:rPr>
              <a:t>FastAPI</a:t>
            </a:r>
            <a:endParaRPr sz="800" b="0" i="0" dirty="0">
              <a:solidFill>
                <a:srgbClr val="F5C842"/>
              </a:solidFill>
              <a:latin typeface="Calibr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38528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938528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React + Tailwind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94176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94176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Postgres + Redis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49824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49824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Anthropic SDK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5472" y="3794760"/>
            <a:ext cx="1664208" cy="292608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05472" y="3794760"/>
            <a:ext cx="1664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5C842"/>
                </a:solidFill>
                <a:latin typeface="Calibri"/>
              </a:rPr>
              <a:t>Docker / AWS / Azure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" y="477316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Hosting: Docker · Deployable to AWS / Azure / On-prem · Data never leaves client VPC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Working Solution &amp; 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WHAT'S BUILT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25296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1E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89304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122529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4447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Spark 3.x · Databricks · SQL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810512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2066544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130552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" y="206654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Claude Diagnosis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5 error categories · structured JSON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651760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907792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971800"/>
            <a:ext cx="25603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1248" y="290779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Auto-Remediate (5 patterns)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127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Retries · schema mismatch · OOM bump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493008"/>
            <a:ext cx="3858768" cy="9144"/>
          </a:xfrm>
          <a:prstGeom prst="rect">
            <a:avLst/>
          </a:prstGeom>
          <a:solidFill>
            <a:srgbClr val="1E3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749040"/>
            <a:ext cx="402336" cy="402336"/>
          </a:xfrm>
          <a:prstGeom prst="rect">
            <a:avLst/>
          </a:prstGeom>
          <a:solidFill>
            <a:srgbClr val="162254"/>
          </a:solidFill>
          <a:ln w="6350">
            <a:solidFill>
              <a:srgbClr val="1E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813048"/>
            <a:ext cx="256032" cy="2560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" y="374904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React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9684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Heatmap · MTTR · SLA · 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626864"/>
            <a:ext cx="3858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EC8C8"/>
                </a:solidFill>
                <a:latin typeface="Calibri"/>
              </a:rPr>
              <a:t>docker-compose up  ·  Runs in 15 min  ·  6 synthetic jobs + 3 failure scenarios pre-loaded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731520"/>
            <a:ext cx="228600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7315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DEMO SCENARIOS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060704"/>
            <a:ext cx="4343400" cy="3749039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09160" y="115214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09160" y="1152144"/>
            <a:ext cx="54864" cy="107899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120700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  <a:latin typeface="Calibr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12070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Schema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153619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Trigger column add on customer_churn_etl → Claude diagnoses → schema-registry update → click apply → job recovers in &lt;60s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09160" y="234086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09160" y="2340864"/>
            <a:ext cx="54864" cy="107899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0600" y="239572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8A020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0368" y="23957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Predictive OOM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272491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sales_aggregation hits 87% memory → Claude flags BEFORE failure → executor memory bump recommended → engineer approves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3529584"/>
            <a:ext cx="4069080" cy="1078992"/>
          </a:xfrm>
          <a:prstGeom prst="rect">
            <a:avLst/>
          </a:prstGeom>
          <a:solidFill>
            <a:srgbClr val="162254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09160" y="3529584"/>
            <a:ext cx="54864" cy="10789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00600" y="3584448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  <a:latin typeface="Calibri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30368" y="358444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Transient Timeout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913632"/>
            <a:ext cx="38587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Already auto-resolved by retry agent — no human touch. Engineer sees clean audit trail in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626864"/>
            <a:ext cx="4160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 dirty="0">
                <a:solidFill>
                  <a:srgbClr val="FFC000"/>
                </a:solidFill>
                <a:latin typeface="Calibri"/>
              </a:rPr>
              <a:t>Video: [link]  ·  Repo: github.com/</a:t>
            </a:r>
            <a:r>
              <a:rPr sz="900" b="1" i="1" dirty="0" err="1">
                <a:solidFill>
                  <a:srgbClr val="FFC000"/>
                </a:solidFill>
                <a:latin typeface="Calibri"/>
              </a:rPr>
              <a:t>paltech</a:t>
            </a:r>
            <a:r>
              <a:rPr sz="900" b="1" i="1" dirty="0">
                <a:solidFill>
                  <a:srgbClr val="FFC000"/>
                </a:solidFill>
                <a:latin typeface="Calibri"/>
              </a:rPr>
              <a:t>/pipeline-pulse  ·  </a:t>
            </a:r>
            <a:r>
              <a:rPr lang="en-US" sz="900" b="1" i="1" dirty="0" err="1">
                <a:solidFill>
                  <a:srgbClr val="FFC000"/>
                </a:solidFill>
              </a:rPr>
              <a:t>scalex@pal.tech</a:t>
            </a:r>
            <a:endParaRPr sz="900" b="1" i="1" dirty="0">
              <a:solidFill>
                <a:srgbClr val="FFC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Calibri"/>
              </a:rPr>
              <a:t>AI / Automation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863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77824"/>
            <a:ext cx="347472" cy="34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877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1704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Claude Sonnet 4.6 via Anthropic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7863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786384"/>
            <a:ext cx="420624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877824"/>
            <a:ext cx="347472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57800" y="8778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Agentic 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1704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Tool-use agent — log retriever, schema fetcher, runbook lookup → JSON-structured diagnosis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1579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21579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4942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Prompt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5420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20+ YAML prompt templates; each pattern class has dedicated prompt with retrieved context injection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1579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2157984"/>
            <a:ext cx="4206240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249424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57800" y="22494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420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Auto-remediation whitelisted only · Output schema validated · Human approval for non-whitelist · Full audit 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5295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529584"/>
            <a:ext cx="4206240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21024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Training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136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No fine-tuning — pattern library from anonymised client incident logs; zero model training cost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29584"/>
            <a:ext cx="4206240" cy="120700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663440" y="3529584"/>
            <a:ext cx="4206240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62102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57800" y="362102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Human-in-Loop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3913632"/>
            <a:ext cx="3474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Non-whitelisted fixes surface as ranked recommendations with one-click apply; engineer has final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809744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No source data leaves client environment · Logs only · OAuth 2.0 + SAML SSO · RBAC on remediation 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Key Metrics &amp;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1664208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CC71"/>
                </a:solidFill>
                <a:latin typeface="Calibri"/>
              </a:rPr>
              <a:t>−87%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MTTR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4248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84248" y="749808"/>
            <a:ext cx="1664208" cy="36576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C8C8"/>
                </a:solidFill>
                <a:latin typeface="Calibri"/>
              </a:rPr>
              <a:t>−60%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4248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Triage Hours/</a:t>
            </a:r>
            <a:r>
              <a:rPr sz="900" b="0" i="0" dirty="0" err="1">
                <a:solidFill>
                  <a:srgbClr val="8CA4CC"/>
                </a:solidFill>
                <a:latin typeface="Calibri"/>
              </a:rPr>
              <a:t>Wk</a:t>
            </a:r>
            <a:endParaRPr sz="900" b="0" i="0" dirty="0">
              <a:solidFill>
                <a:srgbClr val="8CA4C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39896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39896" y="749808"/>
            <a:ext cx="1664208" cy="36576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9896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A020"/>
                </a:solidFill>
                <a:latin typeface="Calibri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9896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SLA Adherence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5544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95544" y="749808"/>
            <a:ext cx="1664208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5544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2ECC71"/>
                </a:solidFill>
                <a:latin typeface="Calibri"/>
              </a:rPr>
              <a:t>$15K+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CA4CC"/>
                </a:solidFill>
                <a:latin typeface="Calibri"/>
              </a:rPr>
              <a:t>Saved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749808"/>
            <a:ext cx="1664208" cy="987552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51192" y="749808"/>
            <a:ext cx="1664208" cy="36576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822960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C8C8"/>
                </a:solidFill>
                <a:latin typeface="Calibri"/>
              </a:rPr>
              <a:t>$0.20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1316736"/>
            <a:ext cx="1664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CA4CC"/>
                </a:solidFill>
                <a:latin typeface="Calibri"/>
              </a:rPr>
              <a:t>Cost /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19019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Baseline  vs.  Projected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28600" y="2240280"/>
          <a:ext cx="8686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E8A02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A020"/>
                          </a:solidFill>
                          <a:latin typeface="Calibri"/>
                        </a:rPr>
                        <a:t>Baseline (Today)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A020"/>
                          </a:solidFill>
                          <a:latin typeface="Calibri"/>
                        </a:rPr>
                        <a:t>Projected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A020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>
                    <a:solidFill>
                      <a:srgbClr val="1622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Mean Time to Resolve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Calibri"/>
                        </a:rPr>
                        <a:t>~4 hours / incident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~30 min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ECC71"/>
                          </a:solidFill>
                          <a:latin typeface="Calibri"/>
                        </a:rPr>
                        <a:t>−87%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Engineer triage / week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Calibri"/>
                        </a:rPr>
                        <a:t>~20 hours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~8 hours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ECC71"/>
                          </a:solidFill>
                          <a:latin typeface="Calibri"/>
                        </a:rPr>
                        <a:t>−60%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SLA adherence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ECC71"/>
                          </a:solidFill>
                          <a:latin typeface="Calibri"/>
                        </a:rPr>
                        <a:t>+7pp</a:t>
                      </a:r>
                    </a:p>
                  </a:txBody>
                  <a:tcPr>
                    <a:solidFill>
                      <a:srgbClr val="0D18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 per client / mo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Calibri"/>
                        </a:rPr>
                        <a:t>~$4K all-in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ECC71"/>
                          </a:solidFill>
                          <a:latin typeface="Calibri"/>
                        </a:rPr>
                        <a:t>vs $15K+ saved</a:t>
                      </a:r>
                    </a:p>
                  </a:txBody>
                  <a:tcPr>
                    <a:solidFill>
                      <a:srgbClr val="0F1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228600" y="475488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CA4CC"/>
                </a:solidFill>
                <a:latin typeface="Calibri"/>
              </a:rPr>
              <a:t>Assumptions: 50 nightly ETL jobs · 10 incidents/week · $80/hr engineer cost · 60% incidents match auto-fix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Feasibility, Scalability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31520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731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EXECUTION FEASIBILITY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0704"/>
            <a:ext cx="4114800" cy="312724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52144"/>
            <a:ext cx="4572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Technical Viability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40817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Connectors built · Claude API live · docker-compose tested end-to-end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83664"/>
            <a:ext cx="45720" cy="566928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192024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Delivery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1396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3 weeks to production: security review (1w) + 2 connectors (1w) + harden + package (1w)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15184"/>
            <a:ext cx="45720" cy="5669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65176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87121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Anthropic API access · Spark/Databricks credentials · Postgres instance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46704"/>
            <a:ext cx="45720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383280"/>
            <a:ext cx="3749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Risks &amp;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60273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Prompt drift → YAML versioning + regression tests · Hallucinated fix → whitelist + human 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731520"/>
            <a:ext cx="2560320" cy="2560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731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2"/>
                </a:solidFill>
                <a:latin typeface="Calibri"/>
              </a:rPr>
              <a:t>SCALABILITY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060704"/>
            <a:ext cx="4343400" cy="312724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663440" y="1152144"/>
            <a:ext cx="45720" cy="566928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18888" y="118872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Cross-Team Reuse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140817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Config-driven — new pipeline source = 1 YAML edit, no code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883664"/>
            <a:ext cx="4572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18888" y="192024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Multi-Account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213969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Client-isolated deployment · YAML policy per client · SSO-ready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15184"/>
            <a:ext cx="45720" cy="56692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18888" y="265176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Geo /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287121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English-first; LLM supports multilingual logs without retraining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346704"/>
            <a:ext cx="45720" cy="566928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18888" y="338328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Accelerator Pack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602736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4CC"/>
                </a:solidFill>
                <a:latin typeface="Calibri"/>
              </a:rPr>
              <a:t>'Data Reliability Accelerator' — 2-week deploy · upsell to managed observability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279392"/>
            <a:ext cx="8686800" cy="658368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Constraints 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Data: logs only (no source data)  ·  Model: &gt;95% accuracy, edge-case drift managed via regression suite  ·  Infra: Postgres + Redis (Docker included)  ·  Regulatory: no PII in logs enforced by connector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A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Roadmap &amp; Closing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548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5C842"/>
                </a:solidFill>
                <a:latin typeface="Calibri"/>
              </a:rPr>
              <a:t>Slide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786384"/>
            <a:ext cx="2029968" cy="457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Calibri"/>
              </a:rPr>
              <a:t>Phase 1
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</a:t>
            </a:r>
            <a:r>
              <a:rPr sz="900" b="1" i="0">
                <a:solidFill>
                  <a:srgbClr val="FFFFFF"/>
                </a:solidFill>
                <a:latin typeface="Calibri"/>
              </a:rPr>
              <a:t>Spark / Databricks /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5 auto-fix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React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CC71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Claude Sonnet 4.6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04872" y="786384"/>
            <a:ext cx="2029968" cy="45720"/>
          </a:xfrm>
          <a:prstGeom prst="rect">
            <a:avLst/>
          </a:prstGeom>
          <a:solidFill>
            <a:srgbClr val="1E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96312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C8C8"/>
                </a:solidFill>
                <a:latin typeface="Calibri"/>
              </a:rPr>
              <a:t>Phase 2
4–8 wks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</a:t>
            </a:r>
            <a:r>
              <a:rPr sz="900" b="1" i="0">
                <a:solidFill>
                  <a:srgbClr val="FFFFFF"/>
                </a:solidFill>
                <a:latin typeface="Calibri"/>
              </a:rPr>
              <a:t>Kafka streaming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6312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dbt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Anomaly ML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C8C8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Client-tunable policies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1144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81144" y="786384"/>
            <a:ext cx="2029968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72583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A020"/>
                </a:solidFill>
                <a:latin typeface="Calibri"/>
              </a:rPr>
              <a:t>Phase 3
Q3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</a:t>
            </a:r>
            <a:r>
              <a:rPr sz="900" b="1" i="0">
                <a:solidFill>
                  <a:srgbClr val="FFFFFF"/>
                </a:solidFill>
                <a:latin typeface="Calibri"/>
              </a:rPr>
              <a:t>Advanced root-cause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Cross-client pattern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3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SLA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3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Marketplace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57416" y="786384"/>
            <a:ext cx="2029968" cy="3291840"/>
          </a:xfrm>
          <a:prstGeom prst="rect">
            <a:avLst/>
          </a:prstGeom>
          <a:solidFill>
            <a:srgbClr val="0F1E45"/>
          </a:solidFill>
          <a:ln w="6350">
            <a:solidFill>
              <a:srgbClr val="1E3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57416" y="786384"/>
            <a:ext cx="2029968" cy="4572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48855" y="859536"/>
            <a:ext cx="18470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842"/>
                </a:solidFill>
                <a:latin typeface="Calibri"/>
              </a:rPr>
              <a:t>Phase 4
Enterprise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5" y="1463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</a:t>
            </a:r>
            <a:r>
              <a:rPr sz="900" b="1" i="0">
                <a:solidFill>
                  <a:srgbClr val="FFFFFF"/>
                </a:solidFill>
                <a:latin typeface="Calibri"/>
              </a:rPr>
              <a:t>Multi-cloud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8855" y="1920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DataOps observability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855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Managed service offering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5" y="2834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842"/>
                </a:solidFill>
                <a:latin typeface="Calibri"/>
              </a:rPr>
              <a:t>• </a:t>
            </a:r>
            <a:r>
              <a:rPr sz="900" b="0" i="0">
                <a:solidFill>
                  <a:srgbClr val="8CA4CC"/>
                </a:solidFill>
                <a:latin typeface="Calibri"/>
              </a:rPr>
              <a:t>Partner / ISV packaging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C2289BAC10D4288F1997845E54835" ma:contentTypeVersion="8" ma:contentTypeDescription="Create a new document." ma:contentTypeScope="" ma:versionID="8b078823dd55a630d55225142e1d80ed">
  <xsd:schema xmlns:xsd="http://www.w3.org/2001/XMLSchema" xmlns:xs="http://www.w3.org/2001/XMLSchema" xmlns:p="http://schemas.microsoft.com/office/2006/metadata/properties" xmlns:ns2="1a85a50f-b31a-409c-a795-1fd9a36fa5fe" targetNamespace="http://schemas.microsoft.com/office/2006/metadata/properties" ma:root="true" ma:fieldsID="157bcc24fe1977acdbb63924a96c7055" ns2:_="">
    <xsd:import namespace="1a85a50f-b31a-409c-a795-1fd9a36fa5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5a50f-b31a-409c-a795-1fd9a36fa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3CBD073-092D-49D2-B5D9-25F2B81076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5a50f-b31a-409c-a795-1fd9a36fa5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6A46CD-6CD0-4E4E-B628-875FF429B14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442464E-EFBE-473C-994D-D9F380588D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1052</Words>
  <Application>Microsoft Office PowerPoint</Application>
  <PresentationFormat>On-screen Show (16:9)</PresentationFormat>
  <Paragraphs>177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Shankar Akshinthala</dc:creator>
  <cp:keywords/>
  <dc:description>generated using python-pptx</dc:description>
  <cp:lastModifiedBy>Shankar Akshinthala</cp:lastModifiedBy>
  <cp:revision>4</cp:revision>
  <dcterms:created xsi:type="dcterms:W3CDTF">2013-01-27T09:14:16Z</dcterms:created>
  <dcterms:modified xsi:type="dcterms:W3CDTF">2026-07-09T07:06:32Z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0x010100FA8C2289BAC10D4288F1997845E54835</vt:lpwstr>
  </property>
</Properties>
</file>