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558C2A-80B4-4DDE-BAA9-EF5347C55AD0}" v="132" dt="2026-06-26T09:11:11.0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874" y="-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D671E-759E-4722-A6F4-E585EA79F7A5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64B6D-7197-474E-933B-A7FA69B36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675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64B6D-7197-474E-933B-A7FA69B36B3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1893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5.png"/><Relationship Id="rId7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86868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8A020"/>
                </a:solidFill>
                <a:latin typeface="Calibri"/>
              </a:rPr>
              <a:t>SCALEX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874519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PURSUIT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2788920"/>
            <a:ext cx="5029200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288036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C842"/>
                </a:solidFill>
                <a:latin typeface="Calibri"/>
              </a:rPr>
              <a:t>Solve Problems  ·  Deliver Value  ·  Pursue Growth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3337560"/>
            <a:ext cx="5029200" cy="1508760"/>
          </a:xfrm>
          <a:prstGeom prst="rect">
            <a:avLst/>
          </a:prstGeom>
          <a:solidFill>
            <a:srgbClr val="0F1E45"/>
          </a:solidFill>
          <a:ln w="63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3337560"/>
            <a:ext cx="5029200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34015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A4CC"/>
                </a:solidFill>
                <a:latin typeface="Calibri"/>
              </a:rPr>
              <a:t>TEAM  Data Alchemists</a:t>
            </a:r>
            <a:r>
              <a:rPr sz="1600" b="1" i="0">
                <a:solidFill>
                  <a:srgbClr val="F5C842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9476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A4CC"/>
                </a:solidFill>
                <a:latin typeface="Calibri"/>
              </a:rPr>
              <a:t>Use Case  Data Alchemist — Agentic Data Quality &amp; Trust Platform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148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A4CC"/>
                </a:solidFill>
                <a:latin typeface="Calibri"/>
              </a:rPr>
              <a:t>[Member 1]  ·  [Member 2]  ·  [Member 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7083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EC8C8"/>
                </a:solidFill>
                <a:latin typeface="Calibri"/>
              </a:rPr>
              <a:t>Agentic Data Quality &amp; Governance  |  SCALEX Pursuit 2026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9728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9144000" cy="274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Team Overview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54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C842"/>
                </a:solidFill>
                <a:latin typeface="Calibri"/>
              </a:rPr>
              <a:t>Slide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31520"/>
            <a:ext cx="2011680" cy="2560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7315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22"/>
                </a:solidFill>
                <a:latin typeface="Calibri"/>
              </a:rPr>
              <a:t>THE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60704"/>
            <a:ext cx="4114800" cy="3749039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475488" cy="475488"/>
          </a:xfrm>
          <a:prstGeom prst="rect">
            <a:avLst/>
          </a:prstGeom>
          <a:solidFill>
            <a:srgbClr val="162254"/>
          </a:solidFill>
          <a:ln w="63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216152"/>
            <a:ext cx="320040" cy="320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117957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[Member 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4173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[Role — e.g. Team Lead / Product]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1737360"/>
            <a:ext cx="3840480" cy="9144"/>
          </a:xfrm>
          <a:prstGeom prst="rect">
            <a:avLst/>
          </a:prstGeom>
          <a:solidFill>
            <a:srgbClr val="1E3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2057400"/>
            <a:ext cx="475488" cy="475488"/>
          </a:xfrm>
          <a:prstGeom prst="rect">
            <a:avLst/>
          </a:prstGeom>
          <a:solidFill>
            <a:srgbClr val="162254"/>
          </a:solidFill>
          <a:ln w="63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2130552"/>
            <a:ext cx="320040" cy="320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400" y="209397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[Member 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3317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[Role — e.g. Backend / Agentic AI]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2651760"/>
            <a:ext cx="3840480" cy="9144"/>
          </a:xfrm>
          <a:prstGeom prst="rect">
            <a:avLst/>
          </a:prstGeom>
          <a:solidFill>
            <a:srgbClr val="1E3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2971800"/>
            <a:ext cx="475488" cy="475488"/>
          </a:xfrm>
          <a:prstGeom prst="rect">
            <a:avLst/>
          </a:prstGeom>
          <a:solidFill>
            <a:srgbClr val="162254"/>
          </a:solidFill>
          <a:ln w="63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3044952"/>
            <a:ext cx="320040" cy="320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4400" y="300837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[Member 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2461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[Role — e.g. Frontend / UX]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8404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C8C8"/>
                </a:solidFill>
                <a:latin typeface="Calibri"/>
              </a:rPr>
              <a:t>Theme: Agentic Data Quality &amp; 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09651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8CA4CC"/>
                </a:solidFill>
                <a:latin typeface="Calibri"/>
              </a:rPr>
              <a:t>scalex@pal.tech  ·  Submission: [Date]</a:t>
            </a:r>
            <a:r>
              <a:rPr sz="900" b="0" i="0" dirty="0">
                <a:solidFill>
                  <a:srgbClr val="8CA4CC"/>
                </a:solidFill>
                <a:latin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731520"/>
            <a:ext cx="2011680" cy="2560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0" y="7315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22"/>
                </a:solidFill>
                <a:latin typeface="Calibri"/>
              </a:rPr>
              <a:t>THE PROBLEM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1060704"/>
            <a:ext cx="4343400" cy="3749039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9160" y="1170432"/>
            <a:ext cx="4069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Bad data is found by an angry stakeholder, not by the pipeline. Engineers burn hours tracing root cause only after dashboards and decisions are already wrong.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2011680"/>
            <a:ext cx="4069080" cy="512064"/>
          </a:xfrm>
          <a:prstGeom prst="rect">
            <a:avLst/>
          </a:prstGeom>
          <a:solidFill>
            <a:srgbClr val="162254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09160" y="2011680"/>
            <a:ext cx="54864" cy="5120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92040" y="2066544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Reactive discovery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2267712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Issues surface downstream — after they've already corrupted reports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2606040"/>
            <a:ext cx="4069080" cy="512064"/>
          </a:xfrm>
          <a:prstGeom prst="rect">
            <a:avLst/>
          </a:prstGeom>
          <a:solidFill>
            <a:srgbClr val="162254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709160" y="2606040"/>
            <a:ext cx="54864" cy="5120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92040" y="2660904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 systematic profiling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2862072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Nulls, duplicates, drift &amp; orphaned keys go unchecked until something breaks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09160" y="3200400"/>
            <a:ext cx="4069080" cy="512064"/>
          </a:xfrm>
          <a:prstGeom prst="rect">
            <a:avLst/>
          </a:prstGeom>
          <a:solidFill>
            <a:srgbClr val="162254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709160" y="3200400"/>
            <a:ext cx="54864" cy="5120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92040" y="3255264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Hand-written DQ rules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3456432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Every rule hand-coded per table — no institutional memory of “good”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09160" y="3794760"/>
            <a:ext cx="4069080" cy="512064"/>
          </a:xfrm>
          <a:prstGeom prst="rect">
            <a:avLst/>
          </a:prstGeom>
          <a:solidFill>
            <a:srgbClr val="162254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709160" y="3794760"/>
            <a:ext cx="54864" cy="5120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92040" y="3849624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 trust visibility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4050792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No single score, no audit trail, no way to explain “why” to the business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9144000" cy="274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Proposed Solution — Data Alchemist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54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C842"/>
                </a:solidFill>
                <a:latin typeface="Calibri"/>
              </a:rPr>
              <a:t>Slide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5C842"/>
                </a:solidFill>
                <a:latin typeface="Calibri"/>
              </a:rPr>
              <a:t>“An agentic platform that profiles, scores, and explains data quality across every layer of the warehouse — so trust is measured, not assumed.”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2029968" cy="35204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1325880"/>
            <a:ext cx="2029968" cy="45720"/>
          </a:xfrm>
          <a:prstGeom prst="rect">
            <a:avLst/>
          </a:prstGeom>
          <a:solidFill>
            <a:srgbClr val="1E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481328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2103120"/>
            <a:ext cx="18470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Autonomous Profiling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78608"/>
            <a:ext cx="184708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CA4CC"/>
                </a:solidFill>
                <a:latin typeface="Calibri"/>
              </a:rPr>
              <a:t>LangGraph agent runs 11 checks per table — nulls, duplicates, key violations, referential orphans, schema drift — no hand-written 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04872" y="1325880"/>
            <a:ext cx="2029968" cy="35204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04872" y="1325880"/>
            <a:ext cx="2029968" cy="457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391" y="1481328"/>
            <a:ext cx="502920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496312" y="2103120"/>
            <a:ext cx="18470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AI-Authored DQ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6312" y="2578608"/>
            <a:ext cx="184708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CA4CC"/>
                </a:solidFill>
                <a:latin typeface="Calibri"/>
              </a:rPr>
              <a:t>Recommends &amp; generates rules from live profiling results; engineers approve, edit, or reject — nothing ships unreviewed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81144" y="1325880"/>
            <a:ext cx="2029968" cy="35204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81144" y="1325880"/>
            <a:ext cx="2029968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664" y="1481328"/>
            <a:ext cx="502920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72583" y="2103120"/>
            <a:ext cx="18470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Anomaly Explainability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3" y="2578608"/>
            <a:ext cx="184708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CA4CC"/>
                </a:solidFill>
                <a:latin typeface="Calibri"/>
              </a:rPr>
              <a:t>Volume, distribution &amp; freshness anomalies get plain-English root-cause narratives, not just red dots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57416" y="1325880"/>
            <a:ext cx="2029968" cy="35204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757416" y="1325880"/>
            <a:ext cx="2029968" cy="45720"/>
          </a:xfrm>
          <a:prstGeom prst="rect">
            <a:avLst/>
          </a:prstGeom>
          <a:solidFill>
            <a:srgbClr val="1E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936" y="1481328"/>
            <a:ext cx="502920" cy="5029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48855" y="2103120"/>
            <a:ext cx="18470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Trust Score &amp; Lineage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8855" y="2578608"/>
            <a:ext cx="184708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CA4CC"/>
                </a:solidFill>
                <a:latin typeface="Calibri"/>
              </a:rPr>
              <a:t>One score per table, one audit trail per decision, and a live impact graph of what breaks downstream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681728"/>
            <a:ext cx="8686800" cy="3200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CC71"/>
                </a:solidFill>
                <a:latin typeface="Calibri"/>
              </a:rPr>
              <a:t>IN SCOPE: SQL Server · Snowflake · Databricks · Postgres · DuckDB · 11 screens · 94 REST endpoints     ROADMAP: Streaming sources · anomaly ML · multi-tenant SaaS packaging</a:t>
            </a:r>
            <a:r>
              <a:rPr sz="900" b="0" i="0">
                <a:solidFill>
                  <a:srgbClr val="FFFFFF"/>
                </a:solidFill>
                <a:latin typeface="Calibri"/>
              </a:rPr>
              <a:t/>
            </a:r>
            <a:r>
              <a:rPr sz="900" b="1" i="0">
                <a:solidFill>
                  <a:srgbClr val="E8A020"/>
                </a:solidFill>
                <a:latin typeface="Calibri"/>
              </a:rPr>
              <a:t/>
            </a:r>
            <a:r>
              <a:rPr sz="900" b="0" i="0">
                <a:solidFill>
                  <a:srgbClr val="8CA4CC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9144000" cy="274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54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C842"/>
                </a:solidFill>
                <a:latin typeface="Calibri"/>
              </a:rPr>
              <a:t>Slide 4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804672"/>
            <a:ext cx="1600200" cy="19202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804672"/>
            <a:ext cx="1600200" cy="45720"/>
          </a:xfrm>
          <a:prstGeom prst="rect">
            <a:avLst/>
          </a:prstGeom>
          <a:solidFill>
            <a:srgbClr val="1E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932688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7744" y="1508760"/>
            <a:ext cx="1490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Data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" y="1920240"/>
            <a:ext cx="1490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CA4CC"/>
                </a:solidFill>
                <a:latin typeface="Calibri"/>
              </a:rPr>
              <a:t>SQL Server · Snowflake</a:t>
            </a:r>
          </a:p>
          <a:p>
            <a:r>
              <a:t>Databricks · Postgres · DuckDB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1664208"/>
            <a:ext cx="320040" cy="274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920240" y="804672"/>
            <a:ext cx="1600200" cy="19202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920240" y="804672"/>
            <a:ext cx="1600200" cy="457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592" y="932688"/>
            <a:ext cx="502920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975104" y="1508760"/>
            <a:ext cx="1490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Connector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5104" y="1920240"/>
            <a:ext cx="1490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CA4CC"/>
                </a:solidFill>
                <a:latin typeface="Calibri"/>
              </a:rPr>
              <a:t>BaseConnector</a:t>
            </a:r>
          </a:p>
          <a:p>
            <a:r>
              <a:t>query · describe · list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1664208"/>
            <a:ext cx="320040" cy="274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0" y="804672"/>
            <a:ext cx="1600200" cy="19202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0" y="804672"/>
            <a:ext cx="1600200" cy="45720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952" y="932688"/>
            <a:ext cx="502920" cy="502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712463" y="1508760"/>
            <a:ext cx="1490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LangGraph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2463" y="1920240"/>
            <a:ext cx="1490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CA4CC"/>
                </a:solidFill>
                <a:latin typeface="Calibri"/>
              </a:rPr>
              <a:t>Profiling · Rules</a:t>
            </a:r>
          </a:p>
          <a:p>
            <a:r>
              <a:t>Execution · Explain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7800" y="1664208"/>
            <a:ext cx="320040" cy="274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94960" y="804672"/>
            <a:ext cx="1600200" cy="19202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394960" y="804672"/>
            <a:ext cx="1600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2" y="932688"/>
            <a:ext cx="502920" cy="5029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49824" y="1508760"/>
            <a:ext cx="1490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LiteLLM Gateway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9824" y="1920240"/>
            <a:ext cx="1490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CA4CC"/>
                </a:solidFill>
                <a:latin typeface="Calibri"/>
              </a:rPr>
              <a:t>Claude / GPT-4o</a:t>
            </a:r>
          </a:p>
          <a:p>
            <a:r>
              <a:t>Gemini · Ollama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95160" y="1664208"/>
            <a:ext cx="320040" cy="274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132320" y="804672"/>
            <a:ext cx="1600200" cy="19202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132320" y="804672"/>
            <a:ext cx="1600200" cy="45720"/>
          </a:xfrm>
          <a:prstGeom prst="rect">
            <a:avLst/>
          </a:prstGeom>
          <a:solidFill>
            <a:srgbClr val="1E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671" y="932688"/>
            <a:ext cx="502920" cy="5029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187183" y="1508760"/>
            <a:ext cx="1490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React SPA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87183" y="1920240"/>
            <a:ext cx="1490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CA4CC"/>
                </a:solidFill>
                <a:latin typeface="Calibri"/>
              </a:rPr>
              <a:t>11 screens</a:t>
            </a:r>
          </a:p>
          <a:p>
            <a:r>
              <a:t>SSE live streaming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2852928"/>
            <a:ext cx="3291840" cy="804672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290779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Event &amp; Metadata Store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163824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PostgreSQL — 36 versioned migrations  ·  connections, dq_rules, profiling_reports, anomaly_log, audit_trail, lineage, ai_usage_log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11880" y="2852928"/>
            <a:ext cx="5303520" cy="804672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703320" y="2907792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AI Layer  Model: swappable via LiteLLM (Claude Sonnet default)  ·  Pattern: LangGraph + tool-use  ·  Every call cost/token-logged  ·  Human-in-loop on every AI output</a:t>
            </a:r>
            <a:r>
              <a:rPr sz="900" b="0" i="0">
                <a:solidFill>
                  <a:srgbClr val="FFFFFF"/>
                </a:solidFill>
                <a:latin typeface="Calibri"/>
              </a:rPr>
              <a:t/>
            </a:r>
            <a:r>
              <a:rPr sz="900" b="1" i="0">
                <a:solidFill>
                  <a:srgbClr val="2ECC71"/>
                </a:solidFill>
                <a:latin typeface="Calibri"/>
              </a:rPr>
              <a:t/>
            </a:r>
            <a:r>
              <a:rPr sz="900" b="0" i="0">
                <a:solidFill>
                  <a:srgbClr val="8CA4CC"/>
                </a:solidFill>
                <a:latin typeface="Calibri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3794760"/>
            <a:ext cx="1664208" cy="292608"/>
          </a:xfrm>
          <a:prstGeom prst="rect">
            <a:avLst/>
          </a:prstGeom>
          <a:solidFill>
            <a:srgbClr val="162254"/>
          </a:solidFill>
          <a:ln w="63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82880" y="3794760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 dirty="0">
                <a:solidFill>
                  <a:srgbClr val="F5C842"/>
                </a:solidFill>
                <a:latin typeface="Calibri"/>
              </a:rPr>
              <a:t>Python 3.11 FastAPI</a:t>
            </a:r>
            <a:r>
              <a:rPr sz="800" b="0" i="0" dirty="0" err="1">
                <a:solidFill>
                  <a:srgbClr val="F5C842"/>
                </a:solidFill>
                <a:latin typeface="Calibri"/>
              </a:rPr>
              <a:t/>
            </a:r>
            <a:endParaRPr sz="800" b="0" i="0" dirty="0">
              <a:solidFill>
                <a:srgbClr val="F5C842"/>
              </a:solidFill>
              <a:latin typeface="Calibri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938528" y="3794760"/>
            <a:ext cx="1664208" cy="292608"/>
          </a:xfrm>
          <a:prstGeom prst="rect">
            <a:avLst/>
          </a:prstGeom>
          <a:solidFill>
            <a:srgbClr val="162254"/>
          </a:solidFill>
          <a:ln w="63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938528" y="3794760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C842"/>
                </a:solidFill>
                <a:latin typeface="Calibri"/>
              </a:rPr>
              <a:t>React 18 + Babel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94176" y="3794760"/>
            <a:ext cx="1664208" cy="292608"/>
          </a:xfrm>
          <a:prstGeom prst="rect">
            <a:avLst/>
          </a:prstGeom>
          <a:solidFill>
            <a:srgbClr val="162254"/>
          </a:solidFill>
          <a:ln w="63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94176" y="3794760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C842"/>
                </a:solidFill>
                <a:latin typeface="Calibri"/>
              </a:rPr>
              <a:t>PostgreSQL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49824" y="3794760"/>
            <a:ext cx="1664208" cy="292608"/>
          </a:xfrm>
          <a:prstGeom prst="rect">
            <a:avLst/>
          </a:prstGeom>
          <a:solidFill>
            <a:srgbClr val="162254"/>
          </a:solidFill>
          <a:ln w="63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49824" y="3794760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C842"/>
                </a:solidFill>
                <a:latin typeface="Calibri"/>
              </a:rPr>
              <a:t>LiteLLM (multi-provider)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05472" y="3794760"/>
            <a:ext cx="1664208" cy="292608"/>
          </a:xfrm>
          <a:prstGeom prst="rect">
            <a:avLst/>
          </a:prstGeom>
          <a:solidFill>
            <a:srgbClr val="162254"/>
          </a:solidFill>
          <a:ln w="63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05472" y="3794760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C842"/>
                </a:solidFill>
                <a:latin typeface="Calibri"/>
              </a:rPr>
              <a:t>Docker Compose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" y="47731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CA4CC"/>
                </a:solidFill>
                <a:latin typeface="Calibri"/>
              </a:rPr>
              <a:t>Hosting: Docker · nginx (SSE-tuned) · Fernet-encrypted credentials, never leave the metadata 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9144000" cy="274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Working Solution &amp; Demo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54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C842"/>
                </a:solidFill>
                <a:latin typeface="Calibri"/>
              </a:rPr>
              <a:t>Slide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31520"/>
            <a:ext cx="2011680" cy="2560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7315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22"/>
                </a:solidFill>
                <a:latin typeface="Calibri"/>
              </a:rPr>
              <a:t>WHAT'S BUILT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60704"/>
            <a:ext cx="4114800" cy="3749039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225296"/>
            <a:ext cx="402336" cy="402336"/>
          </a:xfrm>
          <a:prstGeom prst="rect">
            <a:avLst/>
          </a:prstGeom>
          <a:solidFill>
            <a:srgbClr val="162254"/>
          </a:solidFill>
          <a:ln w="6350">
            <a:solidFill>
              <a:srgbClr val="1E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289304"/>
            <a:ext cx="256032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8" y="122529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5 Live Connectors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44475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SQL Server · Snowflake · Databricks · Postgres · DuckDB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1810512"/>
            <a:ext cx="3858768" cy="9144"/>
          </a:xfrm>
          <a:prstGeom prst="rect">
            <a:avLst/>
          </a:prstGeom>
          <a:solidFill>
            <a:srgbClr val="1E3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2066544"/>
            <a:ext cx="402336" cy="402336"/>
          </a:xfrm>
          <a:prstGeom prst="rect">
            <a:avLst/>
          </a:prstGeom>
          <a:solidFill>
            <a:srgbClr val="162254"/>
          </a:solidFill>
          <a:ln w="63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2130552"/>
            <a:ext cx="25603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1248" y="2066544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4 LangGraph / LLM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2860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Profiling (11 nodes) · Rules · Execution · Explainability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2651760"/>
            <a:ext cx="3858768" cy="9144"/>
          </a:xfrm>
          <a:prstGeom prst="rect">
            <a:avLst/>
          </a:prstGeom>
          <a:solidFill>
            <a:srgbClr val="1E3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2907792"/>
            <a:ext cx="402336" cy="402336"/>
          </a:xfrm>
          <a:prstGeom prst="rect">
            <a:avLst/>
          </a:prstGeom>
          <a:solidFill>
            <a:srgbClr val="162254"/>
          </a:solidFill>
          <a:ln w="63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2971800"/>
            <a:ext cx="256032" cy="256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1248" y="2907792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94 REST Endpoints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312724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12 routers · 36 DB migrations · full audit trail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3493008"/>
            <a:ext cx="3858768" cy="9144"/>
          </a:xfrm>
          <a:prstGeom prst="rect">
            <a:avLst/>
          </a:prstGeom>
          <a:solidFill>
            <a:srgbClr val="1E3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3749040"/>
            <a:ext cx="402336" cy="402336"/>
          </a:xfrm>
          <a:prstGeom prst="rect">
            <a:avLst/>
          </a:prstGeom>
          <a:solidFill>
            <a:srgbClr val="162254"/>
          </a:solidFill>
          <a:ln w="6350">
            <a:solidFill>
              <a:srgbClr val="1E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" y="3813048"/>
            <a:ext cx="256032" cy="2560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41248" y="3749040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11-Screen React SPA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396849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Profiling · Rules · Execution · Anomalies · Lineage ·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4626864"/>
            <a:ext cx="3858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EC8C8"/>
                </a:solidFill>
                <a:latin typeface="Calibri"/>
              </a:rPr>
              <a:t>docker compose up --build  ·  Demo login &lt;60s  ·  Live test data with real seeded defects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731520"/>
            <a:ext cx="2286000" cy="2560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0" y="731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22"/>
                </a:solidFill>
                <a:latin typeface="Calibri"/>
              </a:rPr>
              <a:t>DEMO SCENARIOS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1060704"/>
            <a:ext cx="4343400" cy="3749039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709160" y="1152144"/>
            <a:ext cx="4069080" cy="1078992"/>
          </a:xfrm>
          <a:prstGeom prst="rect">
            <a:avLst/>
          </a:prstGeom>
          <a:solidFill>
            <a:srgbClr val="162254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709160" y="1152144"/>
            <a:ext cx="54864" cy="107899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00600" y="120700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74C3C"/>
                </a:solidFill>
                <a:latin typeface="Calibri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0368" y="120700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Duplicate Key &amp; Orphan Detection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1536192"/>
            <a:ext cx="385876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Profile main.orders → agent finds a duplicated order_id and a customer_id with no matching parent — both surfaced with real failing rows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09160" y="2340864"/>
            <a:ext cx="4069080" cy="1078992"/>
          </a:xfrm>
          <a:prstGeom prst="rect">
            <a:avLst/>
          </a:prstGeom>
          <a:solidFill>
            <a:srgbClr val="162254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709160" y="2340864"/>
            <a:ext cx="54864" cy="107899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00600" y="239572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A020"/>
                </a:solidFill>
                <a:latin typeface="Calibri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0368" y="239572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Schema Drift Mid-Run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600" y="2724912"/>
            <a:ext cx="385876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Add a column between two profiling runs → next report auto-diffs against the prior one and flags exactly what changed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3529584"/>
            <a:ext cx="4069080" cy="1078992"/>
          </a:xfrm>
          <a:prstGeom prst="rect">
            <a:avLst/>
          </a:prstGeom>
          <a:solidFill>
            <a:srgbClr val="162254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709160" y="3529584"/>
            <a:ext cx="54864" cy="10789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00600" y="35844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  <a:latin typeface="Calibri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30368" y="358444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Windowed / Incremental Scan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3913632"/>
            <a:ext cx="385876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Profile “Last 7 days” instead of a full scan → same risk detection, a fraction of the compute, visible “partial scan” badge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09160" y="4626864"/>
            <a:ext cx="4160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1" dirty="0">
                <a:solidFill>
                  <a:srgbClr val="FFC000"/>
                </a:solidFill>
                <a:latin typeface="Calibri"/>
              </a:rPr>
              <a:t>Video: [link]  ·  Repo: [link]  ·  scalex@pal.tech</a:t>
            </a:r>
            <a:r>
              <a:rPr sz="900" b="1" i="1" dirty="0" err="1">
                <a:solidFill>
                  <a:srgbClr val="FFC000"/>
                </a:solidFill>
                <a:latin typeface="Calibri"/>
              </a:rPr>
              <a:t/>
            </a:r>
            <a:r>
              <a:rPr sz="900" b="1" i="1" dirty="0">
                <a:solidFill>
                  <a:srgbClr val="FFC000"/>
                </a:solidFill>
                <a:latin typeface="Calibri"/>
              </a:rPr>
              <a:t/>
            </a:r>
            <a:r>
              <a:rPr lang="en-US" sz="900" b="1" i="1" dirty="0" err="1">
                <a:solidFill>
                  <a:srgbClr val="FFC000"/>
                </a:solidFill>
              </a:rPr>
              <a:t/>
            </a:r>
            <a:endParaRPr sz="900" b="1" i="1" dirty="0">
              <a:solidFill>
                <a:srgbClr val="FFC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9144000" cy="274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FFFFFF"/>
                </a:solidFill>
                <a:latin typeface="Calibri"/>
              </a:rPr>
              <a:t>AI / Automation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54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C842"/>
                </a:solidFill>
                <a:latin typeface="Calibri"/>
              </a:rPr>
              <a:t>Slide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86384"/>
            <a:ext cx="4206240" cy="1207008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786384"/>
            <a:ext cx="4206240" cy="457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77824"/>
            <a:ext cx="347472" cy="3474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8778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170432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LiteLLM gateway — Claude Sonnet by default, swappable to GPT-4o, Gemini, or local Ollama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786384"/>
            <a:ext cx="4206240" cy="1207008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63440" y="786384"/>
            <a:ext cx="4206240" cy="45720"/>
          </a:xfrm>
          <a:prstGeom prst="rect">
            <a:avLst/>
          </a:prstGeom>
          <a:solidFill>
            <a:srgbClr val="1E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877824"/>
            <a:ext cx="347472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57800" y="8778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Agentic Pattern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170432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LangGraph StateGraph — 11-node Profiling pipeline with typed state &amp; streamed SSE progress; deterministic engine keeps AI out of the execution hot path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157984"/>
            <a:ext cx="4206240" cy="1207008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28600" y="2157984"/>
            <a:ext cx="4206240" cy="457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249424"/>
            <a:ext cx="347472" cy="347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60" y="22494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Prompt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542032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Versioned YAML prompt templates per module (profiling summary, rule NL→SQL, anomaly narrative) — context-injected with live data, never inline strings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2157984"/>
            <a:ext cx="4206240" cy="1207008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63440" y="2157984"/>
            <a:ext cx="420624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249424"/>
            <a:ext cx="347472" cy="3474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57800" y="22494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Guardrails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2542032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LLM-proposed rules pass 7 static-analysis checks (inverted nulls, uncorrelated EXISTS, unverified columns…) before a human ever sees them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529584"/>
            <a:ext cx="4206240" cy="1207008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28600" y="3529584"/>
            <a:ext cx="4206240" cy="45720"/>
          </a:xfrm>
          <a:prstGeom prst="rect">
            <a:avLst/>
          </a:prstGeom>
          <a:solidFill>
            <a:srgbClr val="1E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621024"/>
            <a:ext cx="347472" cy="34747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36210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Training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913632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Zero fine-tuning — reasoning runs over live schema &amp; profiling stats pulled at request time; every call logged with tokens &amp; cost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3529584"/>
            <a:ext cx="4206240" cy="1207008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663440" y="3529584"/>
            <a:ext cx="4206240" cy="457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3621024"/>
            <a:ext cx="347472" cy="34747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257800" y="36210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Human-in-Loop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3913632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7+ explicit approval gates — rule approve/reject, risk suppress/note, anomaly acknowledge, lineage edge approve — every decision hits the audit trail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" y="4809744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CA4CC"/>
                </a:solidFill>
                <a:latin typeface="Calibri"/>
              </a:rPr>
              <a:t>Credentials Fernet-encrypted at rest · Microsoft Entra ID SSO (OAuth2 + PKCE) · bcrypt password hashing · JWT bearer auth · connection-scoped isolation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9144000" cy="274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Key Metrics &amp;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54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C842"/>
                </a:solidFill>
                <a:latin typeface="Calibri"/>
              </a:rPr>
              <a:t>Slide 7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49808"/>
            <a:ext cx="1664208" cy="987552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749808"/>
            <a:ext cx="1664208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CC71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316736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8CA4CC"/>
                </a:solidFill>
                <a:latin typeface="Calibri"/>
              </a:rPr>
              <a:t>Automated Checks / 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4248" y="749808"/>
            <a:ext cx="1664208" cy="987552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984248" y="749808"/>
            <a:ext cx="1664208" cy="36576"/>
          </a:xfrm>
          <a:prstGeom prst="rect">
            <a:avLst/>
          </a:prstGeom>
          <a:solidFill>
            <a:srgbClr val="1E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84248" y="822960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EC8C8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4248" y="1316736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8CA4CC"/>
                </a:solidFill>
                <a:latin typeface="Calibri"/>
              </a:rPr>
              <a:t>Live DB Connectors</a:t>
            </a:r>
            <a:r>
              <a:rPr sz="900" b="0" i="0" dirty="0" err="1">
                <a:solidFill>
                  <a:srgbClr val="8CA4CC"/>
                </a:solidFill>
                <a:latin typeface="Calibri"/>
              </a:rPr>
              <a:t/>
            </a:r>
            <a:endParaRPr sz="900" b="0" i="0" dirty="0">
              <a:solidFill>
                <a:srgbClr val="8CA4CC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739896" y="749808"/>
            <a:ext cx="1664208" cy="987552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739896" y="749808"/>
            <a:ext cx="1664208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39896" y="822960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A020"/>
                </a:solidFill>
                <a:latin typeface="Calibri"/>
              </a:rPr>
              <a:t>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1316736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CA4CC"/>
                </a:solidFill>
                <a:latin typeface="Calibri"/>
              </a:rPr>
              <a:t>REST Endpoints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95544" y="749808"/>
            <a:ext cx="1664208" cy="987552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95544" y="749808"/>
            <a:ext cx="1664208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95544" y="822960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2ECC71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95544" y="1316736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8CA4CC"/>
                </a:solidFill>
                <a:latin typeface="Calibri"/>
              </a:rPr>
              <a:t>LangGraph / LLM Agents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51192" y="749808"/>
            <a:ext cx="1664208" cy="987552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251192" y="749808"/>
            <a:ext cx="1664208" cy="36576"/>
          </a:xfrm>
          <a:prstGeom prst="rect">
            <a:avLst/>
          </a:prstGeom>
          <a:solidFill>
            <a:srgbClr val="1E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51192" y="822960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EC8C8"/>
                </a:solidFill>
                <a:latin typeface="Calibri"/>
              </a:rPr>
              <a:t>$0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1192" y="1316736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CA4CC"/>
                </a:solidFill>
                <a:latin typeface="Calibri"/>
              </a:rPr>
              <a:t>Model Training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190195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Baseline  vs.  Projected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228600" y="2240280"/>
          <a:ext cx="8686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>
                    <a:solidFill>
                      <a:srgbClr val="1622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Baseline (Today)</a:t>
                      </a:r>
                    </a:p>
                  </a:txBody>
                  <a:tcPr>
                    <a:solidFill>
                      <a:srgbClr val="1622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With Data Alchemist</a:t>
                      </a:r>
                    </a:p>
                  </a:txBody>
                  <a:tcPr>
                    <a:solidFill>
                      <a:srgbClr val="1622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Delta</a:t>
                      </a:r>
                    </a:p>
                  </a:txBody>
                  <a:tcPr>
                    <a:solidFill>
                      <a:srgbClr val="1622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t>Time to detect a DQ issue</a:t>
                      </a:r>
                    </a:p>
                  </a:txBody>
                  <a:tcPr>
                    <a:solidFill>
                      <a:srgbClr val="0D18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Discovered downstream (days)</a:t>
                      </a:r>
                    </a:p>
                  </a:txBody>
                  <a:tcPr>
                    <a:solidFill>
                      <a:srgbClr val="0D18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Flagged at profiling run (&lt;2 min)</a:t>
                      </a:r>
                    </a:p>
                  </a:txBody>
                  <a:tcPr>
                    <a:solidFill>
                      <a:srgbClr val="0D18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−90%+</a:t>
                      </a:r>
                    </a:p>
                  </a:txBody>
                  <a:tcPr>
                    <a:solidFill>
                      <a:srgbClr val="0D18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t>Manual profiling effort / table</a:t>
                      </a:r>
                    </a:p>
                  </a:txBody>
                  <a:tcPr>
                    <a:solidFill>
                      <a:srgbClr val="0F1E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~2–3 hrs hand-written SQL</a:t>
                      </a:r>
                    </a:p>
                  </a:txBody>
                  <a:tcPr>
                    <a:solidFill>
                      <a:srgbClr val="0F1E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Automated agent run</a:t>
                      </a:r>
                    </a:p>
                  </a:txBody>
                  <a:tcPr>
                    <a:solidFill>
                      <a:srgbClr val="0F1E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−65%</a:t>
                      </a:r>
                    </a:p>
                  </a:txBody>
                  <a:tcPr>
                    <a:solidFill>
                      <a:srgbClr val="0F1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t>DQ rule authoring</a:t>
                      </a:r>
                    </a:p>
                  </a:txBody>
                  <a:tcPr>
                    <a:solidFill>
                      <a:srgbClr val="0D18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Fully manual, tribal knowledge</a:t>
                      </a:r>
                    </a:p>
                  </a:txBody>
                  <a:tcPr>
                    <a:solidFill>
                      <a:srgbClr val="0D18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AI-recommended, human-approved</a:t>
                      </a:r>
                    </a:p>
                  </a:txBody>
                  <a:tcPr>
                    <a:solidFill>
                      <a:srgbClr val="0D18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3–5x faster</a:t>
                      </a:r>
                    </a:p>
                  </a:txBody>
                  <a:tcPr>
                    <a:solidFill>
                      <a:srgbClr val="0D18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t>Data trust visibility</a:t>
                      </a:r>
                    </a:p>
                  </a:txBody>
                  <a:tcPr>
                    <a:solidFill>
                      <a:srgbClr val="0F1E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 score, no audit trail</a:t>
                      </a:r>
                    </a:p>
                  </a:txBody>
                  <a:tcPr>
                    <a:solidFill>
                      <a:srgbClr val="0F1E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Trust score + full audit log</a:t>
                      </a:r>
                    </a:p>
                  </a:txBody>
                  <a:tcPr>
                    <a:solidFill>
                      <a:srgbClr val="0F1E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New capability</a:t>
                      </a:r>
                    </a:p>
                  </a:txBody>
                  <a:tcPr>
                    <a:solidFill>
                      <a:srgbClr val="0F1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228600" y="4754880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CA4CC"/>
                </a:solidFill>
                <a:latin typeface="Calibri"/>
              </a:rPr>
              <a:t>Assumptions: mid-size warehouse (50–200 tables) · profiling run ~30–90s/table observed · DQ rule approval remains human-gated by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9144000" cy="274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Feasibility, Scalability &amp;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54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C842"/>
                </a:solidFill>
                <a:latin typeface="Calibri"/>
              </a:rPr>
              <a:t>Slide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31520"/>
            <a:ext cx="2560320" cy="2560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7315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22"/>
                </a:solidFill>
                <a:latin typeface="Calibri"/>
              </a:rPr>
              <a:t>EXECUTION FEASIBILITY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60704"/>
            <a:ext cx="4114800" cy="3127248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52144"/>
            <a:ext cx="45720" cy="5669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1188720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Viability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40817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5 connectors live-tested against real databases · 4 agents running end-to-end · 94 endpoints deployed via docker compose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83664"/>
            <a:ext cx="45720" cy="566928"/>
          </a:xfrm>
          <a:prstGeom prst="rect">
            <a:avLst/>
          </a:prstGeom>
          <a:solidFill>
            <a:srgbClr val="1E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1920240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Delivery 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13969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Core platform working today — profiling, rules, execution, anomalies, dashboard &amp; lineage all functional; hardening pass before GA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15184"/>
            <a:ext cx="45720" cy="56692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2651760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Dependencies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287121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LLM API key (Claude / GPT-4o / Gemini / Ollama) · PostgreSQL 14+ · target warehouse read credentials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346704"/>
            <a:ext cx="45720" cy="5669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" y="3383280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Risks &amp; Mitigation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60273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LLM drift → Pydantic-validated output + human approval gate · cross-DB SQL bugs → BaseConnector abstraction caught 3 real dialect bugs in testing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731520"/>
            <a:ext cx="2560320" cy="2560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7315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22"/>
                </a:solidFill>
                <a:latin typeface="Calibri"/>
              </a:rPr>
              <a:t>SCALABILITY POTENTIAL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060704"/>
            <a:ext cx="4343400" cy="3127248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663440" y="1152144"/>
            <a:ext cx="45720" cy="566928"/>
          </a:xfrm>
          <a:prstGeom prst="rect">
            <a:avLst/>
          </a:prstGeom>
          <a:solidFill>
            <a:srgbClr val="1E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18888" y="1188720"/>
            <a:ext cx="39776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Cross-Team Reuse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8888" y="1408176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New data source = implement 5 BaseConnector methods, register once — zero changes to agents, screens, or 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883664"/>
            <a:ext cx="45720" cy="5669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18888" y="1920240"/>
            <a:ext cx="39776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Multi-Account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8888" y="2139696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Every table scoped by connection_id end-to-end — proven isolation across 5 platforms in one deployment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615184"/>
            <a:ext cx="45720" cy="56692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18888" y="2651760"/>
            <a:ext cx="39776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Geo / Language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18888" y="2871216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LiteLLM makes the model swappable per region/compliance need — UI &amp; prompts portable to localized templates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3346704"/>
            <a:ext cx="45720" cy="566928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18888" y="3383280"/>
            <a:ext cx="39776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Accelerator Pack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8888" y="3602736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A reusable “Data Trust Accelerator” — drop onto any client warehouse, get profiling + rules + lineage in one docker compose 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4279392"/>
            <a:ext cx="8686800" cy="658368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4315968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Constraints  Data: reads schema metadata &amp; samples, never bulk-exports rows  ·  Model: AI outputs are recommendations until a human approves  ·  Infra: PostgreSQL + Docker (included)  ·  Regulatory: Fernet-encrypted credentials, SSO-ready, full audit trail</a:t>
            </a:r>
            <a:r>
              <a:rPr sz="900" b="0" i="0">
                <a:solidFill>
                  <a:srgbClr val="8CA4CC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9144000" cy="274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Roadmap &amp; Closing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54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C842"/>
                </a:solidFill>
                <a:latin typeface="Calibri"/>
              </a:rPr>
              <a:t>Slide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86384"/>
            <a:ext cx="2029968" cy="32918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786384"/>
            <a:ext cx="2029968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859536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C71"/>
                </a:solidFill>
                <a:latin typeface="Calibri"/>
              </a:rPr>
              <a:t>Phase 1</a:t>
            </a:r>
          </a:p>
          <a:p>
            <a: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463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CC71"/>
                </a:solidFill>
                <a:latin typeface="Calibri"/>
              </a:rPr>
              <a:t>• 5 live connectors</a:t>
            </a:r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920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CC71"/>
                </a:solidFill>
                <a:latin typeface="Calibri"/>
              </a:rPr>
              <a:t>• 4 LangGraph/LLM agents</a:t>
            </a:r>
            <a:r>
              <a:rPr sz="900" b="0" i="0">
                <a:solidFill>
                  <a:srgbClr val="8CA4CC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377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CC71"/>
                </a:solidFill>
                <a:latin typeface="Calibri"/>
              </a:rPr>
              <a:t>• 11-screen React SPA</a:t>
            </a:r>
            <a:r>
              <a:rPr sz="900" b="0" i="0">
                <a:solidFill>
                  <a:srgbClr val="8CA4CC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834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CC71"/>
                </a:solidFill>
                <a:latin typeface="Calibri"/>
              </a:rPr>
              <a:t>• Multi-provider LLM (LiteLLM)</a:t>
            </a:r>
            <a:r>
              <a:rPr sz="900" b="0" i="0">
                <a:solidFill>
                  <a:srgbClr val="8CA4CC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2404872" y="786384"/>
            <a:ext cx="2029968" cy="32918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04872" y="786384"/>
            <a:ext cx="2029968" cy="45720"/>
          </a:xfrm>
          <a:prstGeom prst="rect">
            <a:avLst/>
          </a:prstGeom>
          <a:solidFill>
            <a:srgbClr val="1E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96312" y="859536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C8C8"/>
                </a:solidFill>
                <a:latin typeface="Calibri"/>
              </a:rPr>
              <a:t>Phase 2</a:t>
            </a:r>
          </a:p>
          <a:p>
            <a:r>
              <a:t>4–8 wks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6312" y="1463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C8C8"/>
                </a:solidFill>
                <a:latin typeface="Calibri"/>
              </a:rPr>
              <a:t>• Streaming sources (Kafka)</a:t>
            </a:r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6312" y="1920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C8C8"/>
                </a:solidFill>
                <a:latin typeface="Calibri"/>
              </a:rPr>
              <a:t>• Fine-tuned anomaly ML</a:t>
            </a:r>
            <a:r>
              <a:rPr sz="900" b="0" i="0">
                <a:solidFill>
                  <a:srgbClr val="8CA4CC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6312" y="2377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C8C8"/>
                </a:solidFill>
                <a:latin typeface="Calibri"/>
              </a:rPr>
              <a:t>• Rule template marketplace</a:t>
            </a:r>
            <a:r>
              <a:rPr sz="900" b="0" i="0">
                <a:solidFill>
                  <a:srgbClr val="8CA4CC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6312" y="2834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C8C8"/>
                </a:solidFill>
                <a:latin typeface="Calibri"/>
              </a:rPr>
              <a:t>• Partition-aware profiling UX</a:t>
            </a:r>
            <a:r>
              <a:rPr sz="900" b="0" i="0">
                <a:solidFill>
                  <a:srgbClr val="8CA4CC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4581144" y="786384"/>
            <a:ext cx="2029968" cy="32918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81144" y="786384"/>
            <a:ext cx="2029968" cy="457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72583" y="859536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A020"/>
                </a:solidFill>
                <a:latin typeface="Calibri"/>
              </a:rPr>
              <a:t>Phase 3</a:t>
            </a:r>
          </a:p>
          <a:p>
            <a:r>
              <a:t>Q3–Q4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3" y="1463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• Cross-client pattern sharing</a:t>
            </a:r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3" y="1920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• Trust-score forecasting</a:t>
            </a:r>
            <a:r>
              <a:rPr sz="900" b="0" i="0">
                <a:solidFill>
                  <a:srgbClr val="8CA4CC"/>
                </a:solidFill>
                <a:latin typeface="Calibr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2583" y="2377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• Data contract enforcement</a:t>
            </a:r>
            <a:r>
              <a:rPr sz="900" b="0" i="0">
                <a:solidFill>
                  <a:srgbClr val="8CA4CC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72583" y="2834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• Native dbt / Airflow hooks</a:t>
            </a:r>
            <a:r>
              <a:rPr sz="900" b="0" i="0">
                <a:solidFill>
                  <a:srgbClr val="8CA4CC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757416" y="786384"/>
            <a:ext cx="2029968" cy="32918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757416" y="786384"/>
            <a:ext cx="2029968" cy="45720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48855" y="859536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842"/>
                </a:solidFill>
                <a:latin typeface="Calibri"/>
              </a:rPr>
              <a:t>Phase 4</a:t>
            </a:r>
          </a:p>
          <a:p>
            <a:r>
              <a:t>Enterprise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48855" y="1463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842"/>
                </a:solidFill>
                <a:latin typeface="Calibri"/>
              </a:rPr>
              <a:t>• Multi-tenant SaaS packaging</a:t>
            </a:r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48855" y="1920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842"/>
                </a:solidFill>
                <a:latin typeface="Calibri"/>
              </a:rPr>
              <a:t>• Managed DQ-as-a-service</a:t>
            </a:r>
            <a:r>
              <a:rPr sz="900" b="0" i="0">
                <a:solidFill>
                  <a:srgbClr val="8CA4CC"/>
                </a:solidFill>
                <a:latin typeface="Calibr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48855" y="2377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842"/>
                </a:solidFill>
                <a:latin typeface="Calibri"/>
              </a:rPr>
              <a:t>• Marketplace / ISV distribution</a:t>
            </a:r>
            <a:r>
              <a:rPr sz="900" b="0" i="0">
                <a:solidFill>
                  <a:srgbClr val="8CA4CC"/>
                </a:solidFill>
                <a:latin typeface="Calibr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48855" y="2834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842"/>
                </a:solidFill>
                <a:latin typeface="Calibri"/>
              </a:rPr>
              <a:t>• Enterprise SSO + fine RBAC</a:t>
            </a:r>
            <a:r>
              <a:rPr sz="900" b="0" i="0">
                <a:solidFill>
                  <a:srgbClr val="8CA4CC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C2289BAC10D4288F1997845E54835" ma:contentTypeVersion="8" ma:contentTypeDescription="Create a new document." ma:contentTypeScope="" ma:versionID="8b078823dd55a630d55225142e1d80ed">
  <xsd:schema xmlns:xsd="http://www.w3.org/2001/XMLSchema" xmlns:xs="http://www.w3.org/2001/XMLSchema" xmlns:p="http://schemas.microsoft.com/office/2006/metadata/properties" xmlns:ns2="1a85a50f-b31a-409c-a795-1fd9a36fa5fe" targetNamespace="http://schemas.microsoft.com/office/2006/metadata/properties" ma:root="true" ma:fieldsID="157bcc24fe1977acdbb63924a96c7055" ns2:_="">
    <xsd:import namespace="1a85a50f-b31a-409c-a795-1fd9a36fa5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85a50f-b31a-409c-a795-1fd9a36fa5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3CBD073-092D-49D2-B5D9-25F2B81076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85a50f-b31a-409c-a795-1fd9a36fa5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86A46CD-6CD0-4E4E-B628-875FF429B14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442464E-EFBE-473C-994D-D9F380588D3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1052</Words>
  <Application>Microsoft Office PowerPoint</Application>
  <PresentationFormat>On-screen Show (16:9)</PresentationFormat>
  <Paragraphs>177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Shankar Akshinthala</dc:creator>
  <cp:keywords/>
  <dc:description>generated using python-pptx</dc:description>
  <cp:lastModifiedBy>Shankar Akshinthala</cp:lastModifiedBy>
  <cp:revision>4</cp:revision>
  <dcterms:created xsi:type="dcterms:W3CDTF">2013-01-27T09:14:16Z</dcterms:created>
  <dcterms:modified xsi:type="dcterms:W3CDTF">2026-07-09T07:06:32Z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0x010100FA8C2289BAC10D4288F1997845E54835</vt:lpwstr>
  </property>
</Properties>
</file>